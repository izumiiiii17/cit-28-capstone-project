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20"/>
  </p:notesMasterIdLst>
  <p:sldIdLst>
    <p:sldId id="256" r:id="rId2"/>
    <p:sldId id="257" r:id="rId3"/>
    <p:sldId id="269" r:id="rId4"/>
    <p:sldId id="277" r:id="rId5"/>
    <p:sldId id="278" r:id="rId6"/>
    <p:sldId id="279" r:id="rId7"/>
    <p:sldId id="274" r:id="rId8"/>
    <p:sldId id="273" r:id="rId9"/>
    <p:sldId id="268" r:id="rId10"/>
    <p:sldId id="280" r:id="rId11"/>
    <p:sldId id="281" r:id="rId12"/>
    <p:sldId id="282" r:id="rId13"/>
    <p:sldId id="283" r:id="rId14"/>
    <p:sldId id="284" r:id="rId15"/>
    <p:sldId id="285" r:id="rId16"/>
    <p:sldId id="270" r:id="rId17"/>
    <p:sldId id="265" r:id="rId18"/>
    <p:sldId id="266" r:id="rId1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F546372E-339C-4FA3-ADA8-69AEB1A1A1FE}">
          <p14:sldIdLst>
            <p14:sldId id="256"/>
            <p14:sldId id="257"/>
            <p14:sldId id="269"/>
          </p14:sldIdLst>
        </p14:section>
        <p14:section name="Untitled Section" id="{AA3DA226-9ACD-4603-8DB6-BF533518C6E9}">
          <p14:sldIdLst>
            <p14:sldId id="277"/>
            <p14:sldId id="278"/>
            <p14:sldId id="279"/>
            <p14:sldId id="274"/>
            <p14:sldId id="273"/>
            <p14:sldId id="268"/>
            <p14:sldId id="280"/>
            <p14:sldId id="281"/>
            <p14:sldId id="282"/>
            <p14:sldId id="283"/>
            <p14:sldId id="284"/>
            <p14:sldId id="285"/>
            <p14:sldId id="270"/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E648C1F-B92D-418A-B6DC-F5D53FAF0025}" v="101" dt="2025-09-08T14:16:22.795"/>
  </p1510:revLst>
</p1510:revInfo>
</file>

<file path=ppt/tableStyles.xml><?xml version="1.0" encoding="utf-8"?>
<a:tblStyleLst xmlns:a="http://schemas.openxmlformats.org/drawingml/2006/main" def="{90651C3A-4460-11DB-9652-00E08161165F}">
  <a:tblStyle styleId="{57690726-49DA-4552-BDEB-330DD8EA8BD9}" styleName="Table_0">
    <a:wholeTbl>
      <a:tcTxStyle b="off" i="off">
        <a:font>
          <a:latin typeface="Bookman Old Style"/>
          <a:ea typeface="Bookman Old Style"/>
          <a:cs typeface="Bookman Old Style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19T04:24:41.473"/>
    </inkml:context>
    <inkml:brush xml:id="br0">
      <inkml:brushProperty name="width" value="0.3" units="cm"/>
      <inkml:brushProperty name="height" value="0.6" units="cm"/>
      <inkml:brushProperty name="color" value="#E6E6E6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19T04:30:03.002"/>
    </inkml:context>
    <inkml:brush xml:id="br0">
      <inkml:brushProperty name="width" value="0.3" units="cm"/>
      <inkml:brushProperty name="height" value="0.6" units="cm"/>
      <inkml:brushProperty name="color" value="#E6E6E6"/>
      <inkml:brushProperty name="tip" value="rectangle"/>
      <inkml:brushProperty name="rasterOp" value="maskPen"/>
      <inkml:brushProperty name="ignorePressure" value="1"/>
    </inkml:brush>
  </inkml:definitions>
  <inkml:trace contextRef="#ctx0" brushRef="#br0">67 0,'0'10,"-5"11,-10 13,-8 9,0-3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19T04:30:03.967"/>
    </inkml:context>
    <inkml:brush xml:id="br0">
      <inkml:brushProperty name="width" value="0.3" units="cm"/>
      <inkml:brushProperty name="height" value="0.6" units="cm"/>
      <inkml:brushProperty name="color" value="#E6E6E6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2169620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140805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32441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52911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61494F1F-D9FA-FAF2-3F8B-DD31020E2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id="{FE0D3F58-66A5-273B-2631-30361DD950E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>
            <a:extLst>
              <a:ext uri="{FF2B5EF4-FFF2-40B4-BE49-F238E27FC236}">
                <a16:creationId xmlns:a16="http://schemas.microsoft.com/office/drawing/2014/main" id="{FE3F863E-4B94-A68D-FEF9-04EC7427EC9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45989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48305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67165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D86AAB43-FE2B-F5BF-D537-32945EECCB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>
            <a:extLst>
              <a:ext uri="{FF2B5EF4-FFF2-40B4-BE49-F238E27FC236}">
                <a16:creationId xmlns:a16="http://schemas.microsoft.com/office/drawing/2014/main" id="{53AC3EE4-6969-878E-CB8F-A9CD90F810B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>
            <a:extLst>
              <a:ext uri="{FF2B5EF4-FFF2-40B4-BE49-F238E27FC236}">
                <a16:creationId xmlns:a16="http://schemas.microsoft.com/office/drawing/2014/main" id="{72DBAF4C-F3EB-1852-9B26-AFAE062C652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45743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B66C9E3D-14E3-66E2-0F05-7F6811A413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>
            <a:extLst>
              <a:ext uri="{FF2B5EF4-FFF2-40B4-BE49-F238E27FC236}">
                <a16:creationId xmlns:a16="http://schemas.microsoft.com/office/drawing/2014/main" id="{C614C5C9-1D5C-8D0F-B2AE-C9C335DD3DF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>
            <a:extLst>
              <a:ext uri="{FF2B5EF4-FFF2-40B4-BE49-F238E27FC236}">
                <a16:creationId xmlns:a16="http://schemas.microsoft.com/office/drawing/2014/main" id="{7A911957-AD6A-84FD-6DBC-93D40BA3CB0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5330440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35DA3528-B110-985F-34D5-701AB39A49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>
            <a:extLst>
              <a:ext uri="{FF2B5EF4-FFF2-40B4-BE49-F238E27FC236}">
                <a16:creationId xmlns:a16="http://schemas.microsoft.com/office/drawing/2014/main" id="{AAE7B5B1-A977-1B44-361E-35AA2101A30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>
            <a:extLst>
              <a:ext uri="{FF2B5EF4-FFF2-40B4-BE49-F238E27FC236}">
                <a16:creationId xmlns:a16="http://schemas.microsoft.com/office/drawing/2014/main" id="{65DDD3E5-8E62-6253-BE05-0E0E16A6764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3429425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CC73188E-B91B-AC2E-0D5D-E4C53D3CAF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>
            <a:extLst>
              <a:ext uri="{FF2B5EF4-FFF2-40B4-BE49-F238E27FC236}">
                <a16:creationId xmlns:a16="http://schemas.microsoft.com/office/drawing/2014/main" id="{6B33C3E3-F0ED-92A7-FE6C-B79CE4A61CF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>
            <a:extLst>
              <a:ext uri="{FF2B5EF4-FFF2-40B4-BE49-F238E27FC236}">
                <a16:creationId xmlns:a16="http://schemas.microsoft.com/office/drawing/2014/main" id="{70874307-28E6-817D-81A9-5466FDC90D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5112897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42AB1655-8062-497B-6E6B-73A3583706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>
            <a:extLst>
              <a:ext uri="{FF2B5EF4-FFF2-40B4-BE49-F238E27FC236}">
                <a16:creationId xmlns:a16="http://schemas.microsoft.com/office/drawing/2014/main" id="{DD446A89-92EC-F05C-FB69-B792A8BA1C3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>
            <a:extLst>
              <a:ext uri="{FF2B5EF4-FFF2-40B4-BE49-F238E27FC236}">
                <a16:creationId xmlns:a16="http://schemas.microsoft.com/office/drawing/2014/main" id="{44785593-1789-5F0E-AF90-4E4A1F1F674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2837516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D4675566-2674-4842-6086-236BB51A9D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>
            <a:extLst>
              <a:ext uri="{FF2B5EF4-FFF2-40B4-BE49-F238E27FC236}">
                <a16:creationId xmlns:a16="http://schemas.microsoft.com/office/drawing/2014/main" id="{10C1A93C-2479-CD6A-145E-1AC33D1826F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>
            <a:extLst>
              <a:ext uri="{FF2B5EF4-FFF2-40B4-BE49-F238E27FC236}">
                <a16:creationId xmlns:a16="http://schemas.microsoft.com/office/drawing/2014/main" id="{424BFA74-2553-27D6-E797-0489B61F97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7897919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1559352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1243132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84359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050877" y="1322386"/>
            <a:ext cx="103632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2032000" y="3326641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  <a:defRPr sz="2000" b="1">
                <a:solidFill>
                  <a:srgbClr val="17365D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>
                <a:solidFill>
                  <a:schemeClr val="dk1"/>
                </a:solidFill>
              </a:defRPr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Verdana"/>
              <a:buNone/>
              <a:defRPr sz="4000" b="1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859368" y="304800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8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8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89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8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>
            <a:spLocks noGrp="1"/>
          </p:cNvSpPr>
          <p:nvPr>
            <p:ph type="title"/>
          </p:nvPr>
        </p:nvSpPr>
        <p:spPr>
          <a:xfrm>
            <a:off x="3860800" y="274638"/>
            <a:ext cx="77217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52" name="Google Shape;52;p7" descr="C:\Users\AMMU\Desktop\Border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505209" y="139874"/>
            <a:ext cx="9686793" cy="698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body" idx="1"/>
          </p:nvPr>
        </p:nvSpPr>
        <p:spPr>
          <a:xfrm rot="5400000">
            <a:off x="3670300" y="-1714499"/>
            <a:ext cx="4953000" cy="106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>
            <a:spLocks noGrp="1"/>
          </p:cNvSpPr>
          <p:nvPr>
            <p:ph type="title"/>
          </p:nvPr>
        </p:nvSpPr>
        <p:spPr>
          <a:xfrm rot="5400000">
            <a:off x="7285050" y="1828791"/>
            <a:ext cx="58515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body" idx="1"/>
          </p:nvPr>
        </p:nvSpPr>
        <p:spPr>
          <a:xfrm rot="5400000">
            <a:off x="1697000" y="-812859"/>
            <a:ext cx="5851500" cy="80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1" name="Google Shape;11;p1"/>
          <p:cNvCxnSpPr/>
          <p:nvPr/>
        </p:nvCxnSpPr>
        <p:spPr>
          <a:xfrm>
            <a:off x="812800" y="914400"/>
            <a:ext cx="10668000" cy="0"/>
          </a:xfrm>
          <a:prstGeom prst="straightConnector1">
            <a:avLst/>
          </a:prstGeom>
          <a:noFill/>
          <a:ln w="57150" cap="flat" cmpd="thickThin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" name="Google Shape;12;p1"/>
          <p:cNvPicPr preferRelativeResize="0"/>
          <p:nvPr/>
        </p:nvPicPr>
        <p:blipFill rotWithShape="1">
          <a:blip r:embed="rId13">
            <a:alphaModFix/>
          </a:blip>
          <a:srcRect b="18046"/>
          <a:stretch/>
        </p:blipFill>
        <p:spPr>
          <a:xfrm>
            <a:off x="0" y="5991366"/>
            <a:ext cx="12192001" cy="866633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pmc.ncbi.nlm.nih.gov/articles/PMC10196903/?utm_source=chatgpt.com" TargetMode="External"/><Relationship Id="rId2" Type="http://schemas.openxmlformats.org/officeDocument/2006/relationships/hyperlink" Target="https://pmc.ncbi.nlm.nih.gov/articles/PMC9776646/?utm_source=chatgpt.com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pmc.ncbi.nlm.nih.gov/articles/PMC10337248/?utm_source=chatgpt.com" TargetMode="External"/><Relationship Id="rId4" Type="http://schemas.openxmlformats.org/officeDocument/2006/relationships/hyperlink" Target="https://mhealth.jmir.org/2019/5/e9232/?utm_source=chatgpt.com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andfonline.com/doi/full/10.1080/02640414.2011.574722?utm_source=chatgpt.com" TargetMode="External"/><Relationship Id="rId2" Type="http://schemas.openxmlformats.org/officeDocument/2006/relationships/hyperlink" Target="https://pmc.ncbi.nlm.nih.gov/articles/PMC3562955/?utm_source=chatgpt.com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stillmed.olympics.com/media/Document%20Library/OlympicOrg/IOC/Who-We-Are/Commissions/Medical-and-Scientific-Commission/Encyclopaedia/2014_Maughan_002.pdf?utm_source=chatgpt.com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pmc.ncbi.nlm.nih.gov/articles/PMC12193492/?utm_source=chatgpt.com" TargetMode="External"/><Relationship Id="rId2" Type="http://schemas.openxmlformats.org/officeDocument/2006/relationships/hyperlink" Target="https://pmc.ncbi.nlm.nih.gov/articles/PMC10848936/?utm_source=chatgpt.com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mdpi.com/2674-0311/3/4/35?utm_source=chatgpt.com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Izumiiiii17/CIT-28-Capstone-Project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3" Type="http://schemas.openxmlformats.org/officeDocument/2006/relationships/customXml" Target="../ink/ink1.xml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5" Type="http://schemas.openxmlformats.org/officeDocument/2006/relationships/image" Target="../media/image4.png"/><Relationship Id="rId9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hyperlink" Target="https://pmc.ncbi.nlm.nih.gov/articles/PMC12193492/?utm_source=chatgpt.com" TargetMode="External"/><Relationship Id="rId3" Type="http://schemas.openxmlformats.org/officeDocument/2006/relationships/hyperlink" Target="https://pmc.ncbi.nlm.nih.gov/articles/PMC9776646/?utm_source=chatgpt.com" TargetMode="External"/><Relationship Id="rId7" Type="http://schemas.openxmlformats.org/officeDocument/2006/relationships/hyperlink" Target="https://pmc.ncbi.nlm.nih.gov/articles/PMC10848936/?utm_source=chatgpt.com" TargetMode="External"/><Relationship Id="rId12" Type="http://schemas.openxmlformats.org/officeDocument/2006/relationships/hyperlink" Target="https://stillmed.olympics.com/media/Document%20Library/OlympicOrg/IOC/Who-We-Are/Commissions/Medical-and-Scientific-Commission/Encyclopaedia/2014_Maughan_002.pdf?utm_source=chatgpt.com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pmc.ncbi.nlm.nih.gov/articles/PMC10337248/?utm_source=chatgpt.com" TargetMode="External"/><Relationship Id="rId11" Type="http://schemas.openxmlformats.org/officeDocument/2006/relationships/hyperlink" Target="https://www.tandfonline.com/doi/full/10.1080/02640414.2011.574722?utm_source=chatgpt.com" TargetMode="External"/><Relationship Id="rId5" Type="http://schemas.openxmlformats.org/officeDocument/2006/relationships/hyperlink" Target="https://mhealth.jmir.org/2019/5/e9232/?utm_source=chatgpt.com" TargetMode="External"/><Relationship Id="rId10" Type="http://schemas.openxmlformats.org/officeDocument/2006/relationships/hyperlink" Target="https://pmc.ncbi.nlm.nih.gov/articles/PMC3562955/?utm_source=chatgpt.com" TargetMode="External"/><Relationship Id="rId4" Type="http://schemas.openxmlformats.org/officeDocument/2006/relationships/hyperlink" Target="https://pmc.ncbi.nlm.nih.gov/articles/PMC10196903/?utm_source=chatgpt.com" TargetMode="External"/><Relationship Id="rId9" Type="http://schemas.openxmlformats.org/officeDocument/2006/relationships/hyperlink" Target="https://www.mdpi.com/2674-0311/3/4/35?utm_source=chatgpt.com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>
            <a:spLocks noGrp="1"/>
          </p:cNvSpPr>
          <p:nvPr>
            <p:ph type="ctrTitle"/>
          </p:nvPr>
        </p:nvSpPr>
        <p:spPr>
          <a:xfrm>
            <a:off x="790469" y="1069102"/>
            <a:ext cx="10363200" cy="962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Nutrition Application For Athletes</a:t>
            </a:r>
            <a:endParaRPr sz="24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6480195" y="2513340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0" algn="ctr">
              <a:spcBef>
                <a:spcPts val="400"/>
              </a:spcBef>
              <a:buClr>
                <a:srgbClr val="17365D"/>
              </a:buClr>
              <a:buSzPts val="2000"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MR. SAKTHIVEL E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                                    </a:t>
            </a: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Assistant Professor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           School of Computer Science and Engineering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                                   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graphicFrame>
        <p:nvGraphicFramePr>
          <p:cNvPr id="89" name="Google Shape;89;p13"/>
          <p:cNvGraphicFramePr/>
          <p:nvPr>
            <p:extLst>
              <p:ext uri="{D42A27DB-BD31-4B8C-83A1-F6EECF244321}">
                <p14:modId xmlns:p14="http://schemas.microsoft.com/office/powerpoint/2010/main" val="3926792563"/>
              </p:ext>
            </p:extLst>
          </p:nvPr>
        </p:nvGraphicFramePr>
        <p:xfrm>
          <a:off x="8727" y="2275191"/>
          <a:ext cx="12183273" cy="4192304"/>
        </p:xfrm>
        <a:graphic>
          <a:graphicData uri="http://schemas.openxmlformats.org/drawingml/2006/table">
            <a:tbl>
              <a:tblPr firstRow="1" bandRow="1">
                <a:noFill/>
                <a:tableStyleId>{57690726-49DA-4552-BDEB-330DD8EA8BD9}</a:tableStyleId>
              </a:tblPr>
              <a:tblGrid>
                <a:gridCol w="53044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788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1340">
                <a:tc>
                  <a:txBody>
                    <a:bodyPr/>
                    <a:lstStyle/>
                    <a:p>
                      <a:pPr marL="0" marR="0" lvl="1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Roll Number       Student Name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97818"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IN" sz="1800" u="none" strike="noStrike" cap="none" dirty="0"/>
                        <a:t>2021CIT0034     SYED ABDULLAH HUSSAINI </a:t>
                      </a: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IN" sz="1800" u="none" strike="noStrike" cap="none" dirty="0"/>
                        <a:t>20221CIT0069   HARSHAVARDHAN</a:t>
                      </a: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IN" sz="1800" u="none" strike="noStrike" cap="none" dirty="0"/>
                        <a:t>20221CIT0127   SHRISHA JAMAKHANDIKAR       </a:t>
                      </a:r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IN" sz="1800" u="none" strike="noStrike" cap="none" dirty="0"/>
                        <a:t>         </a:t>
                      </a: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IN" sz="1800" u="none" strike="noStrike" cap="none" dirty="0"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IN"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40494"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IN" sz="1800" u="none" strike="noStrike" cap="none" dirty="0"/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7796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7796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7796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1" name="Google Shape;91;p13"/>
          <p:cNvSpPr txBox="1"/>
          <p:nvPr/>
        </p:nvSpPr>
        <p:spPr>
          <a:xfrm>
            <a:off x="1278194" y="124594"/>
            <a:ext cx="8426245" cy="7013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18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CSE7101-</a:t>
            </a: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Capstone Project</a:t>
            </a:r>
            <a:endParaRPr lang="en-GB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     Review-2        Batch Number:   CIT-28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endParaRPr sz="18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-57915" y="4226798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Program: </a:t>
            </a:r>
            <a:r>
              <a:rPr lang="en-US" sz="18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B.TECH</a:t>
            </a:r>
            <a:endParaRPr lang="en-US" sz="18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HOD: </a:t>
            </a:r>
            <a:r>
              <a:rPr lang="en-US" sz="18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S P ANANDARAJ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Project Coordinator: </a:t>
            </a:r>
            <a:r>
              <a:rPr lang="en-IN" sz="1800" b="1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DR. SHARMASTH VALI </a:t>
            </a:r>
            <a:endParaRPr lang="en-US" sz="1800" b="1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Project Coordinators: 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SAMPATH A K , DR. GEETHA  A </a:t>
            </a:r>
            <a:endParaRPr sz="18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solidFill>
                  <a:schemeClr val="bg2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Content</a:t>
            </a:r>
            <a:endParaRPr dirty="0">
              <a:solidFill>
                <a:schemeClr val="bg2">
                  <a:lumMod val="7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Abstract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Literature Survey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Objectives</a:t>
            </a: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Existing Method &amp; Drawbacks</a:t>
            </a: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Proposed Method &amp; Feasibility Study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sz="20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DDDC75-0C47-ED13-B941-9B7955A4254A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Architecture Diagram</a:t>
            </a: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Modules</a:t>
            </a: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Software Details</a:t>
            </a: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Timeline (Gantt Chart)</a:t>
            </a: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References</a:t>
            </a:r>
          </a:p>
          <a:p>
            <a:endParaRPr lang="en-IN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Verdana" panose="020B0604030504040204" pitchFamily="34" charset="0"/>
                <a:ea typeface="Verdana" panose="020B0604030504040204" pitchFamily="34" charset="0"/>
              </a:rPr>
              <a:t>Abstract</a:t>
            </a:r>
            <a:endParaRPr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342900" lvl="0" indent="-19050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2000" dirty="0"/>
              <a:t>  Upcoming athletes face challenges in accessing affordable and personalized nutrition guidance, as professional diet services are costly and general fitness apps fail to address sport-specific needs. This project proposes the development of a </a:t>
            </a:r>
            <a:r>
              <a:rPr lang="en-US" sz="2000" b="1" dirty="0"/>
              <a:t>freemium mobile application</a:t>
            </a:r>
            <a:r>
              <a:rPr lang="en-US" sz="2000" dirty="0"/>
              <a:t> that generates </a:t>
            </a:r>
            <a:r>
              <a:rPr lang="en-US" sz="2000" b="1" dirty="0"/>
              <a:t>AI-powered, personalized diet plans</a:t>
            </a:r>
            <a:r>
              <a:rPr lang="en-US" sz="2000" dirty="0"/>
              <a:t> based on age, sport, body type, and training intensity. The solution synchronizes nutrition with training cycles, promotes nutrition awareness, and supports </a:t>
            </a:r>
            <a:r>
              <a:rPr lang="en-US" sz="2000" b="1" dirty="0"/>
              <a:t>Sustainable Development Goals (SDG 2: Zero Hunger, SDG 3: Good Health &amp; Well-being)</a:t>
            </a:r>
            <a:r>
              <a:rPr lang="en-US" sz="2000" dirty="0"/>
              <a:t>. The application will be developed using modern mobile and AI technologies, with a scalable architecture and user-friendly design, ensuring accessibility and feasibility for a wide range of athletes.</a:t>
            </a:r>
            <a:endParaRPr lang="en-US" sz="2000" spc="-1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34518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6905F-811D-7B81-68F7-0411B03A97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Literature Survey – Part 1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0CDFA3-3E1B-CB26-8686-C02CCD2DC7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12800" y="982980"/>
            <a:ext cx="10668000" cy="5142517"/>
          </a:xfrm>
        </p:spPr>
        <p:txBody>
          <a:bodyPr>
            <a:normAutofit/>
          </a:bodyPr>
          <a:lstStyle/>
          <a:p>
            <a:pPr marL="76200" indent="0">
              <a:buNone/>
            </a:pPr>
            <a:r>
              <a:rPr lang="en-US" sz="1600" b="1" dirty="0"/>
              <a:t>Note :</a:t>
            </a:r>
            <a:r>
              <a:rPr lang="en-US" sz="1600" dirty="0"/>
              <a:t> These reviews and methodology papers show ML and mobile apps are effective for general nutrition monitoring, but they commonly lack athlete-focused personalization and integration with training cycles.</a:t>
            </a:r>
            <a:endParaRPr lang="en-IN" sz="1600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51D6D2E-0990-1E8F-8B9D-704C215FBE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8351709"/>
              </p:ext>
            </p:extLst>
          </p:nvPr>
        </p:nvGraphicFramePr>
        <p:xfrm>
          <a:off x="812800" y="2004060"/>
          <a:ext cx="10668000" cy="3870960"/>
        </p:xfrm>
        <a:graphic>
          <a:graphicData uri="http://schemas.openxmlformats.org/drawingml/2006/table">
            <a:tbl>
              <a:tblPr/>
              <a:tblGrid>
                <a:gridCol w="3556000">
                  <a:extLst>
                    <a:ext uri="{9D8B030D-6E8A-4147-A177-3AD203B41FA5}">
                      <a16:colId xmlns:a16="http://schemas.microsoft.com/office/drawing/2014/main" val="3605491480"/>
                    </a:ext>
                  </a:extLst>
                </a:gridCol>
                <a:gridCol w="3556000">
                  <a:extLst>
                    <a:ext uri="{9D8B030D-6E8A-4147-A177-3AD203B41FA5}">
                      <a16:colId xmlns:a16="http://schemas.microsoft.com/office/drawing/2014/main" val="1272884173"/>
                    </a:ext>
                  </a:extLst>
                </a:gridCol>
                <a:gridCol w="3556000">
                  <a:extLst>
                    <a:ext uri="{9D8B030D-6E8A-4147-A177-3AD203B41FA5}">
                      <a16:colId xmlns:a16="http://schemas.microsoft.com/office/drawing/2014/main" val="31039345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Paper (short ref)</a:t>
                      </a:r>
                      <a:endParaRPr lang="en-IN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Key contribution</a:t>
                      </a:r>
                      <a:endParaRPr lang="en-IN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Limitation</a:t>
                      </a:r>
                      <a:endParaRPr lang="en-IN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39120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i="1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Machine Learning in Nutrition Research</a:t>
                      </a:r>
                      <a:r>
                        <a:rPr lang="en-US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 — Kirk et al., 2022. </a:t>
                      </a:r>
                      <a:r>
                        <a:rPr lang="en-US" dirty="0">
                          <a:latin typeface="Verdana" panose="020B0604030504040204" pitchFamily="34" charset="0"/>
                          <a:ea typeface="Verdana" panose="020B0604030504040204" pitchFamily="34" charset="0"/>
                          <a:hlinkClick r:id="rId2"/>
                        </a:rPr>
                        <a:t>PubMed Central</a:t>
                      </a:r>
                      <a:endParaRPr lang="en-US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Overview of ML applications in nutrition research and practical guidance for implementing ML in dietary studies.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High-level; focuses on research methods rather than production mobile apps for athletes.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32439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i="1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Quality, Usability, and Effectiveness of mHealth Apps</a:t>
                      </a:r>
                      <a:r>
                        <a:rPr lang="en-US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 — Deniz-Garcia et al., 2023. </a:t>
                      </a:r>
                      <a:r>
                        <a:rPr lang="en-US" dirty="0">
                          <a:latin typeface="Verdana" panose="020B0604030504040204" pitchFamily="34" charset="0"/>
                          <a:ea typeface="Verdana" panose="020B0604030504040204" pitchFamily="34" charset="0"/>
                          <a:hlinkClick r:id="rId3"/>
                        </a:rPr>
                        <a:t>PubMed Central</a:t>
                      </a:r>
                      <a:endParaRPr lang="en-US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Systematic review showing app-based interventions can influence nutrition behaviours and outcomes.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Heterogeneous studies; many apps lack personalization for athlete-specific needs.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07826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i="1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 Focused Review of Smartphone Diet-Tracking Apps</a:t>
                      </a:r>
                      <a:r>
                        <a:rPr lang="en-US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 — Ferrara et al., 2019 (JMIR). </a:t>
                      </a:r>
                      <a:r>
                        <a:rPr lang="en-US" dirty="0">
                          <a:latin typeface="Verdana" panose="020B0604030504040204" pitchFamily="34" charset="0"/>
                          <a:ea typeface="Verdana" panose="020B0604030504040204" pitchFamily="34" charset="0"/>
                          <a:hlinkClick r:id="rId4"/>
                        </a:rPr>
                        <a:t>JMIR mHealth and </a:t>
                      </a:r>
                      <a:r>
                        <a:rPr lang="en-US" dirty="0" err="1">
                          <a:latin typeface="Verdana" panose="020B0604030504040204" pitchFamily="34" charset="0"/>
                          <a:ea typeface="Verdana" panose="020B0604030504040204" pitchFamily="34" charset="0"/>
                          <a:hlinkClick r:id="rId4"/>
                        </a:rPr>
                        <a:t>uHealth</a:t>
                      </a:r>
                      <a:endParaRPr lang="en-US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Assesses popular diet-tracking apps — good usability and calorie coding accuracy.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Most apps are calorie-focused and not designed for sport-specific performance needs.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56231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i="1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Mobile Apps for Dietary and Food Timing Assessment</a:t>
                      </a:r>
                      <a:r>
                        <a:rPr lang="en-US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 — Gioia et al., 2023. </a:t>
                      </a:r>
                      <a:r>
                        <a:rPr lang="en-US" dirty="0">
                          <a:latin typeface="Verdana" panose="020B0604030504040204" pitchFamily="34" charset="0"/>
                          <a:ea typeface="Verdana" panose="020B0604030504040204" pitchFamily="34" charset="0"/>
                          <a:hlinkClick r:id="rId5"/>
                        </a:rPr>
                        <a:t>PubMed Central</a:t>
                      </a:r>
                      <a:endParaRPr lang="en-US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Evaluates apps usable for research and clinical assessment of food timing and diet patterns.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Useful for researchers, but lacks athlete-specific diet prescription and training synchronization.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83131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300540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565E19-A2BF-B892-3950-40FBE27B7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998B53-A20A-D668-F02B-76A1D233C9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2129" y="225477"/>
            <a:ext cx="10668000" cy="487500"/>
          </a:xfrm>
        </p:spPr>
        <p:txBody>
          <a:bodyPr/>
          <a:lstStyle/>
          <a:p>
            <a:r>
              <a:rPr lang="en-IN" dirty="0"/>
              <a:t>Literature Survey – Part 2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2B9BE04-41BD-3DB9-6F9D-841EFDBA5A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52129" y="933819"/>
            <a:ext cx="10668000" cy="5142517"/>
          </a:xfrm>
        </p:spPr>
        <p:txBody>
          <a:bodyPr>
            <a:normAutofit/>
          </a:bodyPr>
          <a:lstStyle/>
          <a:p>
            <a:pPr marL="76200" indent="0">
              <a:buNone/>
            </a:pPr>
            <a:r>
              <a:rPr lang="en-US" sz="1600" b="1" dirty="0"/>
              <a:t>Note </a:t>
            </a:r>
            <a:r>
              <a:rPr lang="en-US" sz="1600" dirty="0"/>
              <a:t>Foundational sports nutrition literature provides authoritative guidelines, but these are static. Integrating them into an adaptive AI system that takes real-time training and individual data into account is still an open opportunity.</a:t>
            </a:r>
            <a:endParaRPr lang="en-IN" sz="1600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F3B90F4-7D92-77C1-E923-37BB2D5D3A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1236196"/>
              </p:ext>
            </p:extLst>
          </p:nvPr>
        </p:nvGraphicFramePr>
        <p:xfrm>
          <a:off x="865239" y="1954899"/>
          <a:ext cx="10654890" cy="3627120"/>
        </p:xfrm>
        <a:graphic>
          <a:graphicData uri="http://schemas.openxmlformats.org/drawingml/2006/table">
            <a:tbl>
              <a:tblPr/>
              <a:tblGrid>
                <a:gridCol w="3542890">
                  <a:extLst>
                    <a:ext uri="{9D8B030D-6E8A-4147-A177-3AD203B41FA5}">
                      <a16:colId xmlns:a16="http://schemas.microsoft.com/office/drawing/2014/main" val="3605491480"/>
                    </a:ext>
                  </a:extLst>
                </a:gridCol>
                <a:gridCol w="3556000">
                  <a:extLst>
                    <a:ext uri="{9D8B030D-6E8A-4147-A177-3AD203B41FA5}">
                      <a16:colId xmlns:a16="http://schemas.microsoft.com/office/drawing/2014/main" val="1272884173"/>
                    </a:ext>
                  </a:extLst>
                </a:gridCol>
                <a:gridCol w="3556000">
                  <a:extLst>
                    <a:ext uri="{9D8B030D-6E8A-4147-A177-3AD203B41FA5}">
                      <a16:colId xmlns:a16="http://schemas.microsoft.com/office/drawing/2014/main" val="31039345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Paper (short ref)</a:t>
                      </a:r>
                      <a:endParaRPr lang="en-IN" sz="16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Key contribution</a:t>
                      </a:r>
                      <a:endParaRPr lang="en-IN" sz="16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Limitation</a:t>
                      </a:r>
                      <a:endParaRPr lang="en-IN" sz="16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39120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i="1" dirty="0"/>
                        <a:t>Current Knowledge about Sports Nutrition</a:t>
                      </a:r>
                      <a:r>
                        <a:rPr lang="en-US" sz="1600" dirty="0"/>
                        <a:t> — </a:t>
                      </a:r>
                      <a:r>
                        <a:rPr lang="en-US" sz="1600" dirty="0" err="1"/>
                        <a:t>Pramuková</a:t>
                      </a:r>
                      <a:r>
                        <a:rPr lang="en-US" sz="1600" dirty="0"/>
                        <a:t> et al., 2011. </a:t>
                      </a:r>
                      <a:r>
                        <a:rPr lang="en-US" sz="1600" dirty="0">
                          <a:hlinkClick r:id="rId2"/>
                        </a:rPr>
                        <a:t>PubMed Central</a:t>
                      </a:r>
                      <a:endParaRPr lang="en-US" sz="16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Reviews sports nutrition basics: energy systems, timing, supplements, athlete-specific strategies.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Foundational but not adaptive or AI-driven.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32439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i="1"/>
                        <a:t>Nutrition Guidelines for Strength Sports</a:t>
                      </a:r>
                      <a:r>
                        <a:rPr lang="en-US" sz="1600"/>
                        <a:t> — Slater &amp; Phillips, 2011. </a:t>
                      </a:r>
                      <a:r>
                        <a:rPr lang="en-US" sz="1600">
                          <a:hlinkClick r:id="rId3"/>
                        </a:rPr>
                        <a:t>Taylor &amp; Francis Online</a:t>
                      </a:r>
                      <a:endParaRPr lang="en-US" sz="16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Detailed recommendations for strength-power athletes (macros, timing).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Discipline-specific; static guidelines — need personalization for individual training cycles.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0782646"/>
                  </a:ext>
                </a:extLst>
              </a:tr>
              <a:tr h="225896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600" i="1" dirty="0"/>
                        <a:t>IOC / Olympic sports nutrition resources</a:t>
                      </a:r>
                      <a:r>
                        <a:rPr lang="en-IN" sz="1600" dirty="0"/>
                        <a:t> — Olympic/IOC material (encyclopaedia). </a:t>
                      </a:r>
                      <a:r>
                        <a:rPr lang="en-IN" sz="1600" dirty="0">
                          <a:hlinkClick r:id="rId4"/>
                        </a:rPr>
                        <a:t>Olympics</a:t>
                      </a:r>
                      <a:endParaRPr lang="en-IN" sz="16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Authoritative practice guidance for athlete nutrition strategies and planning.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Practical guidance, not algorithmic or mobile-based personalization.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56231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6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6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6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83131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838889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87141E-79CB-4741-D62A-9C4D5818D3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93063-EF8C-1571-1451-1DB3557965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2129" y="225477"/>
            <a:ext cx="10668000" cy="487500"/>
          </a:xfrm>
        </p:spPr>
        <p:txBody>
          <a:bodyPr/>
          <a:lstStyle/>
          <a:p>
            <a:r>
              <a:rPr lang="en-IN" dirty="0"/>
              <a:t>Literature Survey – Part 3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BFDEBFD-3A4B-32FF-05D9-53FE0B9557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52129" y="933819"/>
            <a:ext cx="10668000" cy="5142517"/>
          </a:xfrm>
        </p:spPr>
        <p:txBody>
          <a:bodyPr>
            <a:normAutofit/>
          </a:bodyPr>
          <a:lstStyle/>
          <a:p>
            <a:pPr marL="76200" indent="0">
              <a:buNone/>
            </a:pPr>
            <a:r>
              <a:rPr lang="en-US" sz="1600" b="1" dirty="0"/>
              <a:t>Note :</a:t>
            </a:r>
            <a:r>
              <a:rPr lang="en-US" sz="1600" dirty="0"/>
              <a:t> Recent reviews show AI can create personalized dietary interventions and mobile apps can integrate wearables — but implementation for athlete performance (timing with training loads) is underexplored. </a:t>
            </a:r>
            <a:endParaRPr lang="en-IN" sz="1600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068E2E7-B8C8-79F3-7DC7-DF195EC71A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2920185"/>
              </p:ext>
            </p:extLst>
          </p:nvPr>
        </p:nvGraphicFramePr>
        <p:xfrm>
          <a:off x="816077" y="1954899"/>
          <a:ext cx="10704052" cy="3870960"/>
        </p:xfrm>
        <a:graphic>
          <a:graphicData uri="http://schemas.openxmlformats.org/drawingml/2006/table">
            <a:tbl>
              <a:tblPr/>
              <a:tblGrid>
                <a:gridCol w="3592052">
                  <a:extLst>
                    <a:ext uri="{9D8B030D-6E8A-4147-A177-3AD203B41FA5}">
                      <a16:colId xmlns:a16="http://schemas.microsoft.com/office/drawing/2014/main" val="3605491480"/>
                    </a:ext>
                  </a:extLst>
                </a:gridCol>
                <a:gridCol w="3556000">
                  <a:extLst>
                    <a:ext uri="{9D8B030D-6E8A-4147-A177-3AD203B41FA5}">
                      <a16:colId xmlns:a16="http://schemas.microsoft.com/office/drawing/2014/main" val="1272884173"/>
                    </a:ext>
                  </a:extLst>
                </a:gridCol>
                <a:gridCol w="3556000">
                  <a:extLst>
                    <a:ext uri="{9D8B030D-6E8A-4147-A177-3AD203B41FA5}">
                      <a16:colId xmlns:a16="http://schemas.microsoft.com/office/drawing/2014/main" val="31039345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Paper (short ref)</a:t>
                      </a:r>
                      <a:endParaRPr lang="en-IN" sz="16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Key contribution</a:t>
                      </a:r>
                      <a:endParaRPr lang="en-IN" sz="16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Limitation</a:t>
                      </a:r>
                      <a:endParaRPr lang="en-IN" sz="16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39120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600" i="1" dirty="0"/>
                        <a:t>Athletes' Nutritional Demands: A Narrative Review</a:t>
                      </a:r>
                      <a:r>
                        <a:rPr lang="en-IN" sz="1600" dirty="0"/>
                        <a:t> — </a:t>
                      </a:r>
                      <a:r>
                        <a:rPr lang="en-IN" sz="1600" dirty="0" err="1"/>
                        <a:t>Amawi</a:t>
                      </a:r>
                      <a:r>
                        <a:rPr lang="en-IN" sz="1600" dirty="0"/>
                        <a:t> et al., 2024. </a:t>
                      </a:r>
                      <a:r>
                        <a:rPr lang="en-IN" sz="1600" dirty="0">
                          <a:hlinkClick r:id="rId2"/>
                        </a:rPr>
                        <a:t>PubMed Central</a:t>
                      </a:r>
                      <a:endParaRPr lang="en-IN" sz="16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Summarizes macronutrient/micronutrient needs, timing and recovery nutrition specific to athletes.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Clinical/physiological focus — does not propose AI or app-based personalized systems.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32439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i="1"/>
                        <a:t>Artificial Intelligence Applications to Personalized Dietary Interventions</a:t>
                      </a:r>
                      <a:r>
                        <a:rPr lang="en-US" sz="1600"/>
                        <a:t> — Wang et al., 2025 (systematic review). </a:t>
                      </a:r>
                      <a:r>
                        <a:rPr lang="en-US" sz="1600">
                          <a:hlinkClick r:id="rId3"/>
                        </a:rPr>
                        <a:t>PubMed Central</a:t>
                      </a:r>
                      <a:endParaRPr lang="en-US" sz="16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Reviews AI-generated dietary interventions and evidence of clinical impact.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Emerging evidence — many AI interventions are still early-stage and require larger trials.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0782646"/>
                  </a:ext>
                </a:extLst>
              </a:tr>
              <a:tr h="225896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600" i="1" dirty="0"/>
                        <a:t>Mobile Applications &amp; AI for Nutrition (review)</a:t>
                      </a:r>
                      <a:r>
                        <a:rPr lang="en-IN" sz="1600" dirty="0"/>
                        <a:t> — Nogueira-Rio et al., 2024 (MDPI). </a:t>
                      </a:r>
                      <a:r>
                        <a:rPr lang="en-IN" sz="1600" dirty="0">
                          <a:hlinkClick r:id="rId4"/>
                        </a:rPr>
                        <a:t>MDPI</a:t>
                      </a:r>
                      <a:endParaRPr lang="en-IN" sz="16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Discusses apps + wearables + AI integration and future directions for personalized nutrition.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Identifies gaps in sports-specific adaptations and real-time training synchronization.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56231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6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6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6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83131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794402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>
          <a:extLst>
            <a:ext uri="{FF2B5EF4-FFF2-40B4-BE49-F238E27FC236}">
              <a16:creationId xmlns:a16="http://schemas.microsoft.com/office/drawing/2014/main" id="{7D123615-4054-A27D-943D-6A02A17B09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13636D9F-75DB-7E40-6279-D96376DA5A0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Verdana" panose="020B0604030504040204" pitchFamily="34" charset="0"/>
                <a:ea typeface="Verdana" panose="020B0604030504040204" pitchFamily="34" charset="0"/>
              </a:rPr>
              <a:t>Objectives</a:t>
            </a:r>
            <a:endParaRPr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97" name="Google Shape;97;p14">
            <a:extLst>
              <a:ext uri="{FF2B5EF4-FFF2-40B4-BE49-F238E27FC236}">
                <a16:creationId xmlns:a16="http://schemas.microsoft.com/office/drawing/2014/main" id="{62A51C5C-F828-9EA5-B85E-7A7979B84ED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11177" y="884903"/>
            <a:ext cx="10302629" cy="5161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latin typeface="Verdana" panose="020B0604030504040204" pitchFamily="34" charset="0"/>
                <a:ea typeface="Verdana" panose="020B0604030504040204" pitchFamily="34" charset="0"/>
              </a:rPr>
              <a:t>Develop Freemium Application</a:t>
            </a:r>
            <a:b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Create a user-friendly app offering free basic nutrition plans and premium advanced features for athletes.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latin typeface="Verdana" panose="020B0604030504040204" pitchFamily="34" charset="0"/>
                <a:ea typeface="Verdana" panose="020B0604030504040204" pitchFamily="34" charset="0"/>
              </a:rPr>
              <a:t>Provide Personalized Nutrition Plans</a:t>
            </a:r>
            <a:b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Generate diet charts tailored to age, body type, sport category, and training intensity.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latin typeface="Verdana" panose="020B0604030504040204" pitchFamily="34" charset="0"/>
                <a:ea typeface="Verdana" panose="020B0604030504040204" pitchFamily="34" charset="0"/>
              </a:rPr>
              <a:t>Integrate AI-Powered Recommendations</a:t>
            </a:r>
            <a:b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Use AI/ML to align nutrition with training load, recovery needs, and performance goals.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latin typeface="Verdana" panose="020B0604030504040204" pitchFamily="34" charset="0"/>
                <a:ea typeface="Verdana" panose="020B0604030504040204" pitchFamily="34" charset="0"/>
              </a:rPr>
              <a:t>Enhance Nutrition Awareness</a:t>
            </a:r>
            <a:b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Educate athletes about the importance of diet in performance, recovery, and overall health.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latin typeface="Verdana" panose="020B0604030504040204" pitchFamily="34" charset="0"/>
                <a:ea typeface="Verdana" panose="020B0604030504040204" pitchFamily="34" charset="0"/>
              </a:rPr>
              <a:t>Support SDG 2 – Zero Hunger</a:t>
            </a:r>
            <a:b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Promote sustainable nutrition practices and contribute toward global hunger awareness initiatives.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85924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algn="just">
              <a:lnSpc>
                <a:spcPct val="200000"/>
              </a:lnSpc>
            </a:pP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Existing Methods And Drawbacks</a:t>
            </a:r>
          </a:p>
        </p:txBody>
      </p:sp>
      <p:sp>
        <p:nvSpPr>
          <p:cNvPr id="10" name="Rectangle 8">
            <a:extLst>
              <a:ext uri="{FF2B5EF4-FFF2-40B4-BE49-F238E27FC236}">
                <a16:creationId xmlns:a16="http://schemas.microsoft.com/office/drawing/2014/main" id="{15E9795F-16D7-957A-0E62-A95D8A37840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40620" y="1010892"/>
            <a:ext cx="9284928" cy="5355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ML-based Diet Recommendation (Kirk et al., 2022)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Contribution: Showed feasibility of ML in nutrition research.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Drawback: Research-focused; not implemented in athlete-specific apps.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mHealth App Reviews (Deniz-Garcia et al., 2023; Ferrara et al., 2019)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Contribution: Mobile apps effective for tracking diet &amp;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behaviour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change.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Drawback: Apps mostly calorie-focused; lack sport-specific personalization.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Athlete Nutrition Guidelines (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Amawi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et al., 2024; WHO/IOC)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Contribution: Provide evidence-based nutrition needs for athletes.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Drawback: Static guidelines; do not adapt to individual or training cycles.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AI-based Personalized Diet Systems (Wang et al., 2025; Nogueira-Rio et al., 2024)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Contribution: AI interventions show promise in tailoring diets.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Drawback: Still emerging; limited real-world implementation for sports.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08161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>
              <a:lnSpc>
                <a:spcPct val="200000"/>
              </a:lnSpc>
            </a:pPr>
            <a:b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Proposed Innovative Solution</a:t>
            </a:r>
            <a:b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</a:b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B5B99FA7-969D-CF2F-01A8-874F9365E5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200" y="692535"/>
            <a:ext cx="10667999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lang="en-US" altLang="en-US" sz="2000" b="1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Freemium Model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Offers free basic dietary recommendations while providing advanced analytics and personalized features under a premium plan.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AI-Powered Diet Generator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Creates personalized meal plans based on training load, sport type, and individual physique.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Training-Nutrition Synchronization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Aligns diet recommendations with workout cycles to maximize performance and recovery.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SDG Integration (SDG 2 &amp; 3)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Supports 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Zero Hunger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by raising awareness about food security and promotes 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Good Health &amp; Well-being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through improved nutrition planning.</a:t>
            </a:r>
          </a:p>
        </p:txBody>
      </p:sp>
    </p:spTree>
    <p:extLst>
      <p:ext uri="{BB962C8B-B14F-4D97-AF65-F5344CB8AC3E}">
        <p14:creationId xmlns:p14="http://schemas.microsoft.com/office/powerpoint/2010/main" val="28563573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>
          <a:extLst>
            <a:ext uri="{FF2B5EF4-FFF2-40B4-BE49-F238E27FC236}">
              <a16:creationId xmlns:a16="http://schemas.microsoft.com/office/drawing/2014/main" id="{743F9865-A59E-D7E9-026B-D66D2447A2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>
            <a:extLst>
              <a:ext uri="{FF2B5EF4-FFF2-40B4-BE49-F238E27FC236}">
                <a16:creationId xmlns:a16="http://schemas.microsoft.com/office/drawing/2014/main" id="{9651F00C-4792-EE88-0A3A-A5F925E9F67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>
              <a:lnSpc>
                <a:spcPct val="200000"/>
              </a:lnSpc>
            </a:pPr>
            <a:r>
              <a:rPr lang="en-IN" dirty="0"/>
              <a:t>Justification &amp; Uniqueness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2EE39E9D-541B-56B2-F39A-886F2A00660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12800" y="967493"/>
            <a:ext cx="10280378" cy="53040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1. Gap from Literature: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457200" lvl="1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Apps = calorie trackers, no athlete focus.</a:t>
            </a:r>
          </a:p>
          <a:p>
            <a:pPr marL="457200" lvl="1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Guidelines = static, not personalized.</a:t>
            </a:r>
          </a:p>
          <a:p>
            <a:pPr marL="457200" lvl="1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AI systems = early stage, no training sync.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2. Our Solution vs Existing Methods: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457200" lvl="1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Combines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AI + Sports Guidelines + Training Data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→ holistic approach.</a:t>
            </a:r>
          </a:p>
          <a:p>
            <a:pPr marL="457200" lvl="1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Accessible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(freemium model) → benefits both amateur and professional athletes.</a:t>
            </a:r>
          </a:p>
          <a:p>
            <a:pPr marL="457200" lvl="1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Scalable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→ can integrate wearables (smartwatches, fitness trackers) in future.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2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76200" indent="0">
              <a:buNone/>
            </a:pPr>
            <a:r>
              <a:rPr lang="en-US" sz="2000" b="1" dirty="0"/>
              <a:t>Key Justification:</a:t>
            </a:r>
            <a:endParaRPr lang="en-US" sz="2000" dirty="0"/>
          </a:p>
          <a:p>
            <a:r>
              <a:rPr lang="en-US" sz="2000" dirty="0"/>
              <a:t>Athletes need </a:t>
            </a:r>
            <a:r>
              <a:rPr lang="en-US" sz="2000" b="1" dirty="0"/>
              <a:t>dynamic nutrition</a:t>
            </a:r>
            <a:r>
              <a:rPr lang="en-US" sz="2000" dirty="0"/>
              <a:t>, not one-size-fits-all.</a:t>
            </a:r>
          </a:p>
          <a:p>
            <a:r>
              <a:rPr lang="en-US" sz="2000" dirty="0"/>
              <a:t>Affordable → upcoming athletes can access plans without costly dieticians.</a:t>
            </a:r>
          </a:p>
          <a:p>
            <a:r>
              <a:rPr lang="en-US" sz="2000" dirty="0"/>
              <a:t>Educational → improves awareness, not just diet charts.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66522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>
          <a:extLst>
            <a:ext uri="{FF2B5EF4-FFF2-40B4-BE49-F238E27FC236}">
              <a16:creationId xmlns:a16="http://schemas.microsoft.com/office/drawing/2014/main" id="{4839175A-4484-8AD7-503A-2010E64FB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>
            <a:extLst>
              <a:ext uri="{FF2B5EF4-FFF2-40B4-BE49-F238E27FC236}">
                <a16:creationId xmlns:a16="http://schemas.microsoft.com/office/drawing/2014/main" id="{993830EE-1137-CBA2-14F9-DCB974A0303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>
              <a:lnSpc>
                <a:spcPct val="200000"/>
              </a:lnSpc>
            </a:pP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Feasibility Analysis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9E59782E-383F-F2A0-9CB9-C526A443A30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12800" y="971774"/>
            <a:ext cx="10668000" cy="55117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76200" indent="0">
              <a:buNone/>
            </a:pPr>
            <a:r>
              <a:rPr lang="en-IN" sz="1600" b="1" dirty="0"/>
              <a:t>Technology Feasibility</a:t>
            </a:r>
          </a:p>
          <a:p>
            <a:r>
              <a:rPr lang="en-IN" sz="1600" b="1" dirty="0"/>
              <a:t>Frontend:</a:t>
            </a:r>
            <a:r>
              <a:rPr lang="en-IN" sz="1600" dirty="0"/>
              <a:t> React.js → dynamic, component-based web application.</a:t>
            </a:r>
          </a:p>
          <a:p>
            <a:r>
              <a:rPr lang="en-IN" sz="1600" b="1" dirty="0"/>
              <a:t>Styling/UI:</a:t>
            </a:r>
            <a:r>
              <a:rPr lang="en-IN" sz="1600" dirty="0"/>
              <a:t> Tailwind CSS → responsive &amp; mobile-friendly design.</a:t>
            </a:r>
          </a:p>
          <a:p>
            <a:r>
              <a:rPr lang="en-IN" sz="1600" b="1" dirty="0"/>
              <a:t>Backend:</a:t>
            </a:r>
            <a:r>
              <a:rPr lang="en-IN" sz="1600" dirty="0"/>
              <a:t> Node.js with Express.js → scalable REST APIs.</a:t>
            </a:r>
          </a:p>
          <a:p>
            <a:r>
              <a:rPr lang="en-IN" sz="1600" b="1" dirty="0"/>
              <a:t>AI/ML Engine:</a:t>
            </a:r>
            <a:r>
              <a:rPr lang="en-IN" sz="1600" dirty="0"/>
              <a:t> Python with TensorFlow, Scikit-learn, Pandas, NumPy.</a:t>
            </a:r>
          </a:p>
          <a:p>
            <a:r>
              <a:rPr lang="en-IN" sz="1600" b="1" dirty="0"/>
              <a:t>Database:</a:t>
            </a:r>
            <a:r>
              <a:rPr lang="en-IN" sz="1600" dirty="0"/>
              <a:t> MongoDB Atlas → cloud-hosted, flexible for user profiles &amp; diet plans.</a:t>
            </a:r>
          </a:p>
          <a:p>
            <a:r>
              <a:rPr lang="en-IN" sz="1600" b="1" dirty="0"/>
              <a:t>APIs &amp; Data Sources:</a:t>
            </a:r>
            <a:r>
              <a:rPr lang="en-IN" sz="1600" dirty="0"/>
              <a:t> Nutrition APIs (</a:t>
            </a:r>
            <a:r>
              <a:rPr lang="en-IN" sz="1600" dirty="0" err="1"/>
              <a:t>Edamam</a:t>
            </a:r>
            <a:r>
              <a:rPr lang="en-IN" sz="1600" dirty="0"/>
              <a:t> / Open Food Database) + WHO / IOC athlete nutrition guidelines.</a:t>
            </a:r>
          </a:p>
          <a:p>
            <a:pPr marL="76200" indent="0">
              <a:buNone/>
            </a:pPr>
            <a:endParaRPr lang="en-IN" sz="1600" dirty="0"/>
          </a:p>
          <a:p>
            <a:pPr marL="76200" indent="0">
              <a:buNone/>
            </a:pPr>
            <a:r>
              <a:rPr lang="en-IN" sz="1600" b="1" dirty="0"/>
              <a:t>Resource Feasibility</a:t>
            </a:r>
          </a:p>
          <a:p>
            <a:r>
              <a:rPr lang="en-IN" sz="1600" b="1" dirty="0"/>
              <a:t>Team Skills Required:</a:t>
            </a:r>
            <a:endParaRPr lang="en-IN" sz="1600" dirty="0"/>
          </a:p>
          <a:p>
            <a:pPr lvl="1"/>
            <a:r>
              <a:rPr lang="en-IN" sz="1600" dirty="0"/>
              <a:t>Frontend development (React.js &amp; Tailwind)</a:t>
            </a:r>
          </a:p>
          <a:p>
            <a:pPr lvl="1"/>
            <a:r>
              <a:rPr lang="en-IN" sz="1600" dirty="0"/>
              <a:t>Backend integration (Node.js + Express)</a:t>
            </a:r>
          </a:p>
          <a:p>
            <a:pPr lvl="1"/>
            <a:r>
              <a:rPr lang="en-IN" sz="1600" dirty="0"/>
              <a:t>AI/ML </a:t>
            </a:r>
            <a:r>
              <a:rPr lang="en-IN" sz="1600" dirty="0" err="1"/>
              <a:t>modeling</a:t>
            </a:r>
            <a:r>
              <a:rPr lang="en-IN" sz="1600" dirty="0"/>
              <a:t> &amp; API integration (Python + </a:t>
            </a:r>
            <a:r>
              <a:rPr lang="en-IN" sz="1600" dirty="0" err="1"/>
              <a:t>FastAPI</a:t>
            </a:r>
            <a:r>
              <a:rPr lang="en-IN" sz="1600" dirty="0"/>
              <a:t>)</a:t>
            </a:r>
          </a:p>
          <a:p>
            <a:r>
              <a:rPr lang="en-IN" sz="1600" b="1" dirty="0"/>
              <a:t>Tools:</a:t>
            </a:r>
            <a:r>
              <a:rPr lang="en-IN" sz="1600" dirty="0"/>
              <a:t> GitHub (version control), Figma (UI design), </a:t>
            </a:r>
            <a:r>
              <a:rPr lang="en-IN" sz="1600" dirty="0" err="1"/>
              <a:t>Jupyter</a:t>
            </a:r>
            <a:r>
              <a:rPr lang="en-IN" sz="1600" dirty="0"/>
              <a:t> / VS Code (AI development)</a:t>
            </a:r>
          </a:p>
          <a:p>
            <a:r>
              <a:rPr lang="en-IN" sz="1600" b="1" dirty="0"/>
              <a:t>Timeline Fit:</a:t>
            </a:r>
            <a:r>
              <a:rPr lang="en-IN" sz="1600" dirty="0"/>
              <a:t> Full development + testing achievable within a semester project schedule.</a:t>
            </a:r>
          </a:p>
          <a:p>
            <a:pPr marL="76200" indent="0">
              <a:buNone/>
            </a:pPr>
            <a:endParaRPr lang="en-IN" sz="16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34780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>
          <a:extLst>
            <a:ext uri="{FF2B5EF4-FFF2-40B4-BE49-F238E27FC236}">
              <a16:creationId xmlns:a16="http://schemas.microsoft.com/office/drawing/2014/main" id="{07D5B017-B02F-46DD-7104-8E53BB8588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>
            <a:extLst>
              <a:ext uri="{FF2B5EF4-FFF2-40B4-BE49-F238E27FC236}">
                <a16:creationId xmlns:a16="http://schemas.microsoft.com/office/drawing/2014/main" id="{C592EE75-9206-B6D0-C89B-4ED1761D9A4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>
              <a:lnSpc>
                <a:spcPct val="200000"/>
              </a:lnSpc>
            </a:pP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Modules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6754FE8F-734A-A21D-B1EF-FCA8E800E0E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12800" y="758432"/>
            <a:ext cx="10985910" cy="57861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76200" indent="0">
              <a:buNone/>
            </a:pPr>
            <a:r>
              <a:rPr lang="en-IN" sz="2000" b="1" dirty="0"/>
              <a:t>1. User Profile Module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Collects </a:t>
            </a:r>
            <a:r>
              <a:rPr lang="en-IN" sz="2000" b="1" dirty="0"/>
              <a:t>athlete details</a:t>
            </a:r>
            <a:r>
              <a:rPr lang="en-IN" sz="2000" dirty="0"/>
              <a:t>: age, gender, body type, sport category, training intensity.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Stores </a:t>
            </a:r>
            <a:r>
              <a:rPr lang="en-IN" sz="2000" b="1" dirty="0"/>
              <a:t>dietary preferences</a:t>
            </a:r>
            <a:r>
              <a:rPr lang="en-IN" sz="2000" dirty="0"/>
              <a:t>: veg/non-veg, allergies, cultural constraints.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Provides base data for personalization.</a:t>
            </a:r>
            <a:br>
              <a:rPr lang="en-IN" sz="2000" dirty="0"/>
            </a:br>
            <a:endParaRPr lang="en-IN" sz="2000" dirty="0"/>
          </a:p>
          <a:p>
            <a:pPr marL="76200" indent="0">
              <a:buNone/>
            </a:pPr>
            <a:r>
              <a:rPr lang="en-IN" sz="2000" b="1" dirty="0"/>
              <a:t>2. Nutrition Recommendation Module</a:t>
            </a:r>
          </a:p>
          <a:p>
            <a:r>
              <a:rPr lang="en-IN" sz="2000" dirty="0"/>
              <a:t>Core </a:t>
            </a:r>
            <a:r>
              <a:rPr lang="en-IN" sz="2000" b="1" dirty="0"/>
              <a:t>AI/ML engine</a:t>
            </a:r>
            <a:r>
              <a:rPr lang="en-IN" sz="2000" dirty="0"/>
              <a:t> generates diet charts.</a:t>
            </a:r>
          </a:p>
          <a:p>
            <a:r>
              <a:rPr lang="en-IN" sz="2000" dirty="0"/>
              <a:t>Uses </a:t>
            </a:r>
            <a:r>
              <a:rPr lang="en-IN" sz="2000" b="1" dirty="0"/>
              <a:t>sports guidelines + athlete data</a:t>
            </a:r>
            <a:r>
              <a:rPr lang="en-IN" sz="2000" dirty="0"/>
              <a:t>.</a:t>
            </a:r>
          </a:p>
          <a:p>
            <a:r>
              <a:rPr lang="en-IN" sz="2000" dirty="0"/>
              <a:t>Adjusts calorie, macro, and micronutrient needs dynamically.</a:t>
            </a:r>
            <a:br>
              <a:rPr lang="en-IN" sz="2000" dirty="0"/>
            </a:br>
            <a:endParaRPr lang="en-IN" sz="2000" dirty="0"/>
          </a:p>
          <a:p>
            <a:pPr marL="76200" indent="0">
              <a:buNone/>
            </a:pPr>
            <a:r>
              <a:rPr lang="en-IN" sz="2000" b="1" dirty="0"/>
              <a:t>3. Training–Nutrition Synchronization Module</a:t>
            </a:r>
          </a:p>
          <a:p>
            <a:r>
              <a:rPr lang="en-IN" sz="2000" dirty="0"/>
              <a:t>Links training load (frequency, duration, recovery days) with diet.</a:t>
            </a:r>
          </a:p>
          <a:p>
            <a:r>
              <a:rPr lang="en-IN" sz="2000" dirty="0"/>
              <a:t>Provides </a:t>
            </a:r>
            <a:r>
              <a:rPr lang="en-IN" sz="2000" b="1" dirty="0"/>
              <a:t>meal timing guidance</a:t>
            </a:r>
            <a:r>
              <a:rPr lang="en-IN" sz="2000" dirty="0"/>
              <a:t> (pre-training, intra-training, post-training).</a:t>
            </a:r>
          </a:p>
          <a:p>
            <a:r>
              <a:rPr lang="en-IN" sz="2000" dirty="0"/>
              <a:t>Reduces injury and boosts recovery.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0517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>
          <a:extLst>
            <a:ext uri="{FF2B5EF4-FFF2-40B4-BE49-F238E27FC236}">
              <a16:creationId xmlns:a16="http://schemas.microsoft.com/office/drawing/2014/main" id="{280A785B-20CD-14A2-E299-E80A541D20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>
            <a:extLst>
              <a:ext uri="{FF2B5EF4-FFF2-40B4-BE49-F238E27FC236}">
                <a16:creationId xmlns:a16="http://schemas.microsoft.com/office/drawing/2014/main" id="{4713B9BD-C214-E9C8-E3F3-EAA15E74128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>
              <a:lnSpc>
                <a:spcPct val="200000"/>
              </a:lnSpc>
            </a:pP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Modules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108788D1-DB51-3BB7-FAEA-9DE7589141F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12800" y="1123240"/>
            <a:ext cx="10985910" cy="46115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76200" indent="0">
              <a:buNone/>
            </a:pPr>
            <a:r>
              <a:rPr lang="en-IN" sz="1800" b="1" dirty="0"/>
              <a:t>4. Awareness &amp; Education Module</a:t>
            </a:r>
          </a:p>
          <a:p>
            <a:r>
              <a:rPr lang="en-IN" sz="1800" dirty="0"/>
              <a:t>Provides </a:t>
            </a:r>
            <a:r>
              <a:rPr lang="en-IN" sz="1800" b="1" dirty="0"/>
              <a:t>tips, resources, and SDG awareness</a:t>
            </a:r>
            <a:r>
              <a:rPr lang="en-IN" sz="1800" dirty="0"/>
              <a:t>.</a:t>
            </a:r>
          </a:p>
          <a:p>
            <a:r>
              <a:rPr lang="en-IN" sz="1800" dirty="0"/>
              <a:t>Helps athletes understand the role of nutrition in long-term performance.</a:t>
            </a:r>
          </a:p>
          <a:p>
            <a:r>
              <a:rPr lang="en-IN" sz="1800" dirty="0"/>
              <a:t>Includes gamified learning (quizzes, infographics).</a:t>
            </a:r>
            <a:br>
              <a:rPr lang="en-IN" sz="1800" dirty="0"/>
            </a:br>
            <a:endParaRPr lang="en-IN" sz="1800" dirty="0"/>
          </a:p>
          <a:p>
            <a:pPr marL="76200" indent="0">
              <a:buNone/>
            </a:pPr>
            <a:r>
              <a:rPr lang="en-IN" sz="1800" b="1" dirty="0"/>
              <a:t>5. Freemium/Premium Module</a:t>
            </a:r>
          </a:p>
          <a:p>
            <a:r>
              <a:rPr lang="en-IN" sz="1800" b="1" dirty="0"/>
              <a:t>Freemium:</a:t>
            </a:r>
            <a:r>
              <a:rPr lang="en-IN" sz="1800" dirty="0"/>
              <a:t> free basic nutrition plans + awareness.</a:t>
            </a:r>
          </a:p>
          <a:p>
            <a:r>
              <a:rPr lang="en-IN" sz="1800" b="1" dirty="0"/>
              <a:t>Premium:</a:t>
            </a:r>
            <a:r>
              <a:rPr lang="en-IN" sz="1800" dirty="0"/>
              <a:t> advanced analytics, progress tracking, wearable integration.</a:t>
            </a:r>
          </a:p>
          <a:p>
            <a:r>
              <a:rPr lang="en-IN" sz="1800" dirty="0"/>
              <a:t>Ensures affordability while sustaining the app.</a:t>
            </a:r>
          </a:p>
          <a:p>
            <a:endParaRPr lang="en-IN" sz="1800" dirty="0"/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GITHUB REPOSITORY LINK:</a:t>
            </a: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endParaRPr lang="en-US" sz="18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  <a:hlinkClick r:id="rId3"/>
              </a:rPr>
              <a:t>https://github.com/Izumiiiii17/CIT-28-Capstone-Project</a:t>
            </a:r>
            <a:endParaRPr lang="en-US" sz="18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25514962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>
          <a:extLst>
            <a:ext uri="{FF2B5EF4-FFF2-40B4-BE49-F238E27FC236}">
              <a16:creationId xmlns:a16="http://schemas.microsoft.com/office/drawing/2014/main" id="{D2F5218C-5AC8-83B2-1012-80E28AE78A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>
            <a:extLst>
              <a:ext uri="{FF2B5EF4-FFF2-40B4-BE49-F238E27FC236}">
                <a16:creationId xmlns:a16="http://schemas.microsoft.com/office/drawing/2014/main" id="{658C0DDE-2EF0-0FD4-8A9D-7648858F4C8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16155" y="264806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>
              <a:lnSpc>
                <a:spcPct val="200000"/>
              </a:lnSpc>
            </a:pP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Software And Technology Details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4120F382-6AB8-87FD-AA67-3CDB3991BF4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2465" y="847596"/>
            <a:ext cx="10985910" cy="53681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76200" indent="0">
              <a:lnSpc>
                <a:spcPct val="150000"/>
              </a:lnSpc>
              <a:buNone/>
            </a:pPr>
            <a:r>
              <a:rPr lang="en-IN" sz="1800" b="1" dirty="0"/>
              <a:t>1. Frontend (Web Application)</a:t>
            </a:r>
          </a:p>
          <a:p>
            <a:pPr>
              <a:lnSpc>
                <a:spcPct val="150000"/>
              </a:lnSpc>
            </a:pPr>
            <a:r>
              <a:rPr lang="en-IN" sz="1800" b="1" dirty="0"/>
              <a:t>Framework:</a:t>
            </a:r>
            <a:r>
              <a:rPr lang="en-IN" sz="1800" dirty="0"/>
              <a:t> React.js</a:t>
            </a:r>
          </a:p>
          <a:p>
            <a:pPr>
              <a:lnSpc>
                <a:spcPct val="150000"/>
              </a:lnSpc>
            </a:pPr>
            <a:r>
              <a:rPr lang="en-IN" sz="1800" b="1" dirty="0"/>
              <a:t>Styling:</a:t>
            </a:r>
            <a:r>
              <a:rPr lang="en-IN" sz="1800" dirty="0"/>
              <a:t> Tailwind CSS (responsive &amp; mobile-friendly)</a:t>
            </a:r>
          </a:p>
          <a:p>
            <a:pPr>
              <a:lnSpc>
                <a:spcPct val="150000"/>
              </a:lnSpc>
            </a:pPr>
            <a:r>
              <a:rPr lang="en-IN" sz="1800" b="1" dirty="0"/>
              <a:t>UI/UX Design:</a:t>
            </a:r>
            <a:r>
              <a:rPr lang="en-IN" sz="1800" dirty="0"/>
              <a:t> Figma (wireframing &amp; prototyping)</a:t>
            </a:r>
          </a:p>
          <a:p>
            <a:pPr marL="76200" indent="0">
              <a:lnSpc>
                <a:spcPct val="150000"/>
              </a:lnSpc>
              <a:buNone/>
            </a:pPr>
            <a:r>
              <a:rPr lang="en-IN" sz="1800" b="1" dirty="0"/>
              <a:t>2. Backend &amp; Database</a:t>
            </a:r>
          </a:p>
          <a:p>
            <a:pPr>
              <a:lnSpc>
                <a:spcPct val="150000"/>
              </a:lnSpc>
            </a:pPr>
            <a:r>
              <a:rPr lang="en-IN" sz="1800" b="1" dirty="0"/>
              <a:t>Backend:</a:t>
            </a:r>
            <a:r>
              <a:rPr lang="en-IN" sz="1800" dirty="0"/>
              <a:t> Node.js with Express.js (REST APIs)</a:t>
            </a:r>
          </a:p>
          <a:p>
            <a:pPr>
              <a:lnSpc>
                <a:spcPct val="150000"/>
              </a:lnSpc>
            </a:pPr>
            <a:r>
              <a:rPr lang="en-IN" sz="1800" b="1" dirty="0"/>
              <a:t>Database:</a:t>
            </a:r>
            <a:r>
              <a:rPr lang="en-IN" sz="1800" dirty="0"/>
              <a:t> MongoDB (cloud-hosted on MongoDB Atlas)</a:t>
            </a:r>
          </a:p>
          <a:p>
            <a:pPr>
              <a:lnSpc>
                <a:spcPct val="150000"/>
              </a:lnSpc>
            </a:pPr>
            <a:r>
              <a:rPr lang="en-IN" sz="1800" b="1" dirty="0"/>
              <a:t>Authentication:</a:t>
            </a:r>
            <a:r>
              <a:rPr lang="en-IN" sz="1800" dirty="0"/>
              <a:t> JWT (token-based authentication)</a:t>
            </a:r>
          </a:p>
          <a:p>
            <a:pPr marL="76200" indent="0">
              <a:lnSpc>
                <a:spcPct val="150000"/>
              </a:lnSpc>
              <a:buNone/>
            </a:pPr>
            <a:r>
              <a:rPr lang="en-IN" sz="1800" b="1" dirty="0"/>
              <a:t>3. AI/ML Engine</a:t>
            </a:r>
            <a:endParaRPr lang="en-IN" sz="1800" dirty="0"/>
          </a:p>
          <a:p>
            <a:pPr>
              <a:lnSpc>
                <a:spcPct val="150000"/>
              </a:lnSpc>
            </a:pPr>
            <a:r>
              <a:rPr lang="en-IN" sz="1800" b="1" dirty="0"/>
              <a:t>Libraries/Frameworks:</a:t>
            </a:r>
            <a:r>
              <a:rPr lang="en-IN" sz="1800" dirty="0"/>
              <a:t> TensorFlow, Scikit-learn, Pandas, NumPy</a:t>
            </a:r>
          </a:p>
          <a:p>
            <a:pPr>
              <a:lnSpc>
                <a:spcPct val="150000"/>
              </a:lnSpc>
            </a:pPr>
            <a:r>
              <a:rPr lang="en-IN" sz="1800" b="1" dirty="0"/>
              <a:t>API Integration:</a:t>
            </a:r>
            <a:r>
              <a:rPr lang="en-IN" sz="1800" dirty="0"/>
              <a:t> </a:t>
            </a:r>
            <a:r>
              <a:rPr lang="en-IN" sz="1800" dirty="0" err="1"/>
              <a:t>FastAPI</a:t>
            </a:r>
            <a:r>
              <a:rPr lang="en-IN" sz="1800" dirty="0"/>
              <a:t> (serves ML models to backend)</a:t>
            </a:r>
          </a:p>
        </p:txBody>
      </p:sp>
    </p:spTree>
    <p:extLst>
      <p:ext uri="{BB962C8B-B14F-4D97-AF65-F5344CB8AC3E}">
        <p14:creationId xmlns:p14="http://schemas.microsoft.com/office/powerpoint/2010/main" val="18748454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>
          <a:extLst>
            <a:ext uri="{FF2B5EF4-FFF2-40B4-BE49-F238E27FC236}">
              <a16:creationId xmlns:a16="http://schemas.microsoft.com/office/drawing/2014/main" id="{37ECCFD3-E7E7-B5C3-A14A-FA0FB01E55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>
            <a:extLst>
              <a:ext uri="{FF2B5EF4-FFF2-40B4-BE49-F238E27FC236}">
                <a16:creationId xmlns:a16="http://schemas.microsoft.com/office/drawing/2014/main" id="{A0299215-C710-3F5D-10B4-6A756A54F93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16155" y="264806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>
              <a:lnSpc>
                <a:spcPct val="200000"/>
              </a:lnSpc>
            </a:pP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Software And Technology Details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2F39B46B-1868-9374-7B7F-39FD88FB55E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83304" y="1138431"/>
            <a:ext cx="10985910" cy="4298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76200" indent="0">
              <a:lnSpc>
                <a:spcPct val="150000"/>
              </a:lnSpc>
              <a:buNone/>
            </a:pPr>
            <a:r>
              <a:rPr lang="en-IN" sz="2000" b="1" dirty="0"/>
              <a:t>4. APIs &amp; Data Sources</a:t>
            </a:r>
          </a:p>
          <a:p>
            <a:pPr>
              <a:lnSpc>
                <a:spcPct val="150000"/>
              </a:lnSpc>
            </a:pPr>
            <a:r>
              <a:rPr lang="en-IN" sz="2000" b="1" dirty="0"/>
              <a:t>Nutrition Data:</a:t>
            </a:r>
            <a:r>
              <a:rPr lang="en-IN" sz="2000" dirty="0"/>
              <a:t> </a:t>
            </a:r>
            <a:r>
              <a:rPr lang="en-IN" sz="2000" dirty="0" err="1"/>
              <a:t>Edamam</a:t>
            </a:r>
            <a:r>
              <a:rPr lang="en-IN" sz="2000" dirty="0"/>
              <a:t> API / Open Food Database</a:t>
            </a:r>
          </a:p>
          <a:p>
            <a:pPr>
              <a:lnSpc>
                <a:spcPct val="150000"/>
              </a:lnSpc>
            </a:pPr>
            <a:r>
              <a:rPr lang="en-IN" sz="2000" b="1" dirty="0"/>
              <a:t>Reference Guidelines:</a:t>
            </a:r>
            <a:r>
              <a:rPr lang="en-IN" sz="2000" dirty="0"/>
              <a:t> WHO &amp; IOC athlete nutrition datasets</a:t>
            </a:r>
          </a:p>
          <a:p>
            <a:pPr marL="76200" indent="0">
              <a:lnSpc>
                <a:spcPct val="150000"/>
              </a:lnSpc>
              <a:buNone/>
            </a:pPr>
            <a:r>
              <a:rPr lang="en-IN" sz="2000" b="1" dirty="0"/>
              <a:t>5. Version Control &amp; Deployment</a:t>
            </a:r>
          </a:p>
          <a:p>
            <a:pPr>
              <a:lnSpc>
                <a:spcPct val="150000"/>
              </a:lnSpc>
            </a:pPr>
            <a:r>
              <a:rPr lang="en-IN" sz="2000" b="1" dirty="0"/>
              <a:t>Version Control:</a:t>
            </a:r>
            <a:r>
              <a:rPr lang="en-IN" sz="2000" dirty="0"/>
              <a:t> GitHub</a:t>
            </a:r>
          </a:p>
          <a:p>
            <a:pPr>
              <a:lnSpc>
                <a:spcPct val="150000"/>
              </a:lnSpc>
            </a:pPr>
            <a:r>
              <a:rPr lang="en-IN" sz="2000" b="1" dirty="0"/>
              <a:t>Frontend Hosting:</a:t>
            </a:r>
            <a:r>
              <a:rPr lang="en-IN" sz="2000" dirty="0"/>
              <a:t> </a:t>
            </a:r>
            <a:r>
              <a:rPr lang="en-IN" sz="2000" dirty="0" err="1"/>
              <a:t>Vercel</a:t>
            </a:r>
            <a:endParaRPr lang="en-IN" sz="2000" dirty="0"/>
          </a:p>
          <a:p>
            <a:pPr>
              <a:lnSpc>
                <a:spcPct val="150000"/>
              </a:lnSpc>
            </a:pPr>
            <a:r>
              <a:rPr lang="en-IN" sz="2000" b="1" dirty="0"/>
              <a:t>Backend + ML API Hosting:</a:t>
            </a:r>
            <a:r>
              <a:rPr lang="en-IN" sz="2000" dirty="0"/>
              <a:t> AWS</a:t>
            </a:r>
          </a:p>
          <a:p>
            <a:pPr>
              <a:lnSpc>
                <a:spcPct val="150000"/>
              </a:lnSpc>
            </a:pPr>
            <a:r>
              <a:rPr lang="en-IN" sz="2000" b="1" dirty="0"/>
              <a:t>Database Hosting:</a:t>
            </a:r>
            <a:r>
              <a:rPr lang="en-IN" sz="2000" dirty="0"/>
              <a:t> MongoDB Atlas</a:t>
            </a:r>
          </a:p>
        </p:txBody>
      </p:sp>
    </p:spTree>
    <p:extLst>
      <p:ext uri="{BB962C8B-B14F-4D97-AF65-F5344CB8AC3E}">
        <p14:creationId xmlns:p14="http://schemas.microsoft.com/office/powerpoint/2010/main" val="9869177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>
                <a:latin typeface="Cambria" panose="02040503050406030204" pitchFamily="18" charset="0"/>
                <a:ea typeface="Cambria" panose="02040503050406030204" pitchFamily="18" charset="0"/>
              </a:rPr>
              <a:t>Timeline of the Project (Gantt Chart)</a:t>
            </a:r>
            <a:endParaRPr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A5E886B-4916-2077-FCC5-77E462816B14}"/>
                  </a:ext>
                </a:extLst>
              </p14:cNvPr>
              <p14:cNvContentPartPr/>
              <p14:nvPr/>
            </p14:nvContentPartPr>
            <p14:xfrm>
              <a:off x="-452230" y="845508"/>
              <a:ext cx="360" cy="3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A5E886B-4916-2077-FCC5-77E462816B1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-506230" y="737868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88084EC2-37C0-FB88-7E90-A244EE81B112}"/>
                  </a:ext>
                </a:extLst>
              </p14:cNvPr>
              <p14:cNvContentPartPr/>
              <p14:nvPr/>
            </p14:nvContentPartPr>
            <p14:xfrm>
              <a:off x="12757970" y="3470628"/>
              <a:ext cx="24120" cy="532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88084EC2-37C0-FB88-7E90-A244EE81B11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2704330" y="3362628"/>
                <a:ext cx="131760" cy="26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AB69B6EE-852A-6D01-2C31-9FEE74AF15A1}"/>
                  </a:ext>
                </a:extLst>
              </p14:cNvPr>
              <p14:cNvContentPartPr/>
              <p14:nvPr/>
            </p14:nvContentPartPr>
            <p14:xfrm>
              <a:off x="11798210" y="4374948"/>
              <a:ext cx="3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AB69B6EE-852A-6D01-2C31-9FEE74AF15A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744570" y="4267308"/>
                <a:ext cx="108000" cy="216000"/>
              </a:xfrm>
              <a:prstGeom prst="rect">
                <a:avLst/>
              </a:prstGeom>
            </p:spPr>
          </p:pic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ACB5B0E1-775E-3CE4-B979-970F5B1FB27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2800" y="948654"/>
            <a:ext cx="10185500" cy="5043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8902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References (IEEE Paper format)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D9F3308D-4F9C-2A34-A248-3C2956005E6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35820" y="1063813"/>
            <a:ext cx="11172722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D. Kirk et al.,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Machine Learning in Nutrition Research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, Nutrition Reviews / PMC (2022).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hlinkClick r:id="rId3"/>
              </a:rPr>
              <a:t>PubMed Central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A. Deniz-Garcia et al.,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Quality, Usability, and Effectiveness of mHealth Apps and …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(Systematic review), PMC (2023).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hlinkClick r:id="rId4"/>
              </a:rPr>
              <a:t>PubMed Central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G. Ferrara et al.,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A Focused Review of Smartphone Diet-Tracking Apps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, JMIR (2019).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hlinkClick r:id="rId5"/>
              </a:rPr>
              <a:t>JMIR mHealth and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hlinkClick r:id="rId5"/>
              </a:rPr>
              <a:t>uHealth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S. Gioia et al.,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Mobile Apps for Dietary and Food Timing Assessment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, PMC (2023).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hlinkClick r:id="rId6"/>
              </a:rPr>
              <a:t>PubMed Central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A.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Amawi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et al.,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Athletes’ Nutritional Demands: a narrative review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(2024).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hlinkClick r:id="rId7"/>
              </a:rPr>
              <a:t>PubMed Central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X. Wang et al.,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Artificial Intelligence Applications to Personalized Dietary …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(2025).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hlinkClick r:id="rId8"/>
              </a:rPr>
              <a:t>PubMed Central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N. Nogueira-Rio et al.,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Mobile Applications and Artificial Intelligence for Nutrition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(MDPI 2024).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hlinkClick r:id="rId9"/>
              </a:rPr>
              <a:t>MDPI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B.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Pramuková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et al.,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Current knowledge about sports nutrition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(2011).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hlinkClick r:id="rId10"/>
              </a:rPr>
              <a:t>PubMed Central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G. Slater &amp; Phillips,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Nutrition guidelines for strength sports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(2011).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hlinkClick r:id="rId11"/>
              </a:rPr>
              <a:t>Taylor &amp; Francis Online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IOC / Olympic sports nutrition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encyclopaedia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/ guidance.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hlinkClick r:id="rId12"/>
              </a:rPr>
              <a:t>Olympics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63A00FF-89F0-DC87-D900-930227B33E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2811" y="1441315"/>
            <a:ext cx="3893305" cy="39354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ioinformatics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224</TotalTime>
  <Words>1962</Words>
  <Application>Microsoft Office PowerPoint</Application>
  <PresentationFormat>Widescreen</PresentationFormat>
  <Paragraphs>197</Paragraphs>
  <Slides>18</Slides>
  <Notes>15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Cambria</vt:lpstr>
      <vt:lpstr>Verdana</vt:lpstr>
      <vt:lpstr>Wingdings</vt:lpstr>
      <vt:lpstr>Bioinformatics</vt:lpstr>
      <vt:lpstr>Nutrition Application For Athletes</vt:lpstr>
      <vt:lpstr>Content</vt:lpstr>
      <vt:lpstr>Abstract</vt:lpstr>
      <vt:lpstr>Literature Survey – Part 1</vt:lpstr>
      <vt:lpstr>Literature Survey – Part 2</vt:lpstr>
      <vt:lpstr>Literature Survey – Part 3</vt:lpstr>
      <vt:lpstr>Objectives</vt:lpstr>
      <vt:lpstr>Existing Methods And Drawbacks</vt:lpstr>
      <vt:lpstr> Proposed Innovative Solution </vt:lpstr>
      <vt:lpstr>Justification &amp; Uniqueness</vt:lpstr>
      <vt:lpstr>Feasibility Analysis</vt:lpstr>
      <vt:lpstr>Modules</vt:lpstr>
      <vt:lpstr>Modules</vt:lpstr>
      <vt:lpstr>Software And Technology Details</vt:lpstr>
      <vt:lpstr>Software And Technology Details</vt:lpstr>
      <vt:lpstr>Timeline of the Project (Gantt Chart)</vt:lpstr>
      <vt:lpstr>References (IEEE Paper format)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Admin</dc:creator>
  <cp:lastModifiedBy>Shrisha Jamakhandikar</cp:lastModifiedBy>
  <cp:revision>6</cp:revision>
  <dcterms:modified xsi:type="dcterms:W3CDTF">2025-09-08T14:19:00Z</dcterms:modified>
</cp:coreProperties>
</file>